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8" r:id="rId9"/>
    <p:sldId id="261" r:id="rId10"/>
    <p:sldId id="262" r:id="rId11"/>
    <p:sldId id="269" r:id="rId12"/>
    <p:sldId id="270" r:id="rId13"/>
    <p:sldId id="263" r:id="rId14"/>
    <p:sldId id="264" r:id="rId15"/>
    <p:sldId id="265" r:id="rId16"/>
    <p:sldId id="271" r:id="rId17"/>
    <p:sldId id="273" r:id="rId18"/>
    <p:sldId id="272" r:id="rId19"/>
    <p:sldId id="266" r:id="rId20"/>
    <p:sldId id="26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447"/>
    <a:srgbClr val="5C5C6E"/>
    <a:srgbClr val="7FB3D5"/>
    <a:srgbClr val="CA8F56"/>
    <a:srgbClr val="A97A4A"/>
    <a:srgbClr val="6E85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601" autoAdjust="0"/>
  </p:normalViewPr>
  <p:slideViewPr>
    <p:cSldViewPr snapToGrid="0" snapToObjects="1">
      <p:cViewPr>
        <p:scale>
          <a:sx n="90" d="100"/>
          <a:sy n="90" d="100"/>
        </p:scale>
        <p:origin x="-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576CBC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语音信号处理 · 项目报告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程序设计与实现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基于BERT的文本情感识别系统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PyTorch  ·  HuggingFace Transformers  ·  Python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5029200"/>
            <a:ext cx="4114800" cy="0"/>
          </a:xfrm>
          <a:prstGeom prst="line">
            <a:avLst/>
          </a:prstGeom>
          <a:noFill/>
          <a:ln w="12700">
            <a:solidFill>
              <a:srgbClr val="576C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212080"/>
            <a:ext cx="5486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</a:t>
            </a:r>
            <a:r>
              <a:rPr lang="zh-CN" altLang="en-US" sz="14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陈文旭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课程：语音信号处理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程序整体介绍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一个完整的BERT文本情感识别系统，从数据准备到模型部署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774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编程语言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22402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3774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PyTorch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278892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深度学习框架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22402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3774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78892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HuggingFace BERT库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98280" y="22402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3774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81160" y="278892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评估指标计算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35204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六大功能模块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39319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Shape 18"/>
          <p:cNvSpPr/>
          <p:nvPr/>
        </p:nvSpPr>
        <p:spPr>
          <a:xfrm>
            <a:off x="1051560" y="4133088"/>
            <a:ext cx="502920" cy="50292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1" name="Text 19"/>
          <p:cNvSpPr/>
          <p:nvPr/>
        </p:nvSpPr>
        <p:spPr>
          <a:xfrm>
            <a:off x="1051560" y="413308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40507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数据准备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91640" y="43891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下载并处理情感数据集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39319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</p:spPr>
      </p:sp>
      <p:sp>
        <p:nvSpPr>
          <p:cNvPr id="25" name="Shape 23"/>
          <p:cNvSpPr/>
          <p:nvPr/>
        </p:nvSpPr>
        <p:spPr>
          <a:xfrm>
            <a:off x="4709160" y="4133088"/>
            <a:ext cx="502920" cy="50292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6" name="Text 24"/>
          <p:cNvSpPr/>
          <p:nvPr/>
        </p:nvSpPr>
        <p:spPr>
          <a:xfrm>
            <a:off x="4709160" y="413308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40507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模型定义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49240" y="43891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BERT + 分类头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83880" y="39319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</p:spPr>
      </p:sp>
      <p:sp>
        <p:nvSpPr>
          <p:cNvPr id="30" name="Shape 28"/>
          <p:cNvSpPr/>
          <p:nvPr/>
        </p:nvSpPr>
        <p:spPr>
          <a:xfrm>
            <a:off x="8366760" y="4133088"/>
            <a:ext cx="502920" cy="50292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31" name="Text 29"/>
          <p:cNvSpPr/>
          <p:nvPr/>
        </p:nvSpPr>
        <p:spPr>
          <a:xfrm>
            <a:off x="8366760" y="413308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06840" y="40507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模型训练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006840" y="43891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微调与验证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49834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</p:spPr>
      </p:sp>
      <p:sp>
        <p:nvSpPr>
          <p:cNvPr id="35" name="Shape 33"/>
          <p:cNvSpPr/>
          <p:nvPr/>
        </p:nvSpPr>
        <p:spPr>
          <a:xfrm>
            <a:off x="1051560" y="5184648"/>
            <a:ext cx="502920" cy="50292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36" name="Text 34"/>
          <p:cNvSpPr/>
          <p:nvPr/>
        </p:nvSpPr>
        <p:spPr>
          <a:xfrm>
            <a:off x="1051560" y="518464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51023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模型评估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691640" y="54406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测试集评估、混淆矩阵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26280" y="49834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</p:spPr>
      </p:sp>
      <p:sp>
        <p:nvSpPr>
          <p:cNvPr id="40" name="Shape 38"/>
          <p:cNvSpPr/>
          <p:nvPr/>
        </p:nvSpPr>
        <p:spPr>
          <a:xfrm>
            <a:off x="4709160" y="5184648"/>
            <a:ext cx="502920" cy="50292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41" name="Text 39"/>
          <p:cNvSpPr/>
          <p:nvPr/>
        </p:nvSpPr>
        <p:spPr>
          <a:xfrm>
            <a:off x="4709160" y="518464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51023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注意力可视化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349240" y="54406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热力图分析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83880" y="49834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</p:spPr>
      </p:sp>
      <p:sp>
        <p:nvSpPr>
          <p:cNvPr id="45" name="Shape 43"/>
          <p:cNvSpPr/>
          <p:nvPr/>
        </p:nvSpPr>
        <p:spPr>
          <a:xfrm>
            <a:off x="8366760" y="5184648"/>
            <a:ext cx="502920" cy="50292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46" name="Text 44"/>
          <p:cNvSpPr/>
          <p:nvPr/>
        </p:nvSpPr>
        <p:spPr>
          <a:xfrm>
            <a:off x="8366760" y="518464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006840" y="51023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语音+文本 Web演示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006840" y="54406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Gradio + faster-whisper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项目目录结构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清晰的模块化组织方式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0D1B2A"/>
          </a:solidFill>
        </p:spPr>
      </p:sp>
      <p:sp>
        <p:nvSpPr>
          <p:cNvPr id="6" name="Shape 4"/>
          <p:cNvSpPr/>
          <p:nvPr/>
        </p:nvSpPr>
        <p:spPr>
          <a:xfrm>
            <a:off x="868680" y="1828800"/>
            <a:ext cx="5852160" cy="384048"/>
          </a:xfrm>
          <a:prstGeom prst="roundRect">
            <a:avLst>
              <a:gd name="adj" fmla="val 14286"/>
            </a:avLst>
          </a:prstGeom>
          <a:solidFill>
            <a:srgbClr val="19376D"/>
          </a:solidFill>
        </p:spPr>
      </p:sp>
      <p:sp>
        <p:nvSpPr>
          <p:cNvPr id="7" name="Text 5"/>
          <p:cNvSpPr/>
          <p:nvPr/>
        </p:nvSpPr>
        <p:spPr>
          <a:xfrm>
            <a:off x="1051560" y="1828800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D:\bert-speech-emotion\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54864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bert-speech-emotion/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data/                  数据集目录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7E8F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train.csv          训练集 9600条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7E8F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dev.csv            验证集 1200条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7E8F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test.csv           测试集 1200条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models/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7E8F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bert_classifier.py BERT分类模型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utils/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7E8F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data_loader.py     数据加载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7E8F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metrics.py         评估指标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checkpoints/           保存训练好的模型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prepare_data.py        数据准备脚本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train.py               训练主脚本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evaluate.py            评估脚本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predict.py             单条预测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visualize_attention.py 注意力可视化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 gradio_demo.py         Web演示界面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0" y="182880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05740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模块化设计的优点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23760" y="2633472"/>
            <a:ext cx="91440" cy="548640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12" name="Text 10"/>
          <p:cNvSpPr/>
          <p:nvPr/>
        </p:nvSpPr>
        <p:spPr>
          <a:xfrm>
            <a:off x="7452360" y="260604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职责分离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52360" y="29443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模型、数据、工具各司其职，互不干扰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3474720"/>
            <a:ext cx="91440" cy="548640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15" name="Text 13"/>
          <p:cNvSpPr/>
          <p:nvPr/>
        </p:nvSpPr>
        <p:spPr>
          <a:xfrm>
            <a:off x="7452360" y="344728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便于维护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52360" y="378561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修改某个功能只需改对应文件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4315968"/>
            <a:ext cx="91440" cy="548640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18" name="Text 16"/>
          <p:cNvSpPr/>
          <p:nvPr/>
        </p:nvSpPr>
        <p:spPr>
          <a:xfrm>
            <a:off x="7452360" y="4288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代码复用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52360" y="462686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data_loader等工具被多个脚本共用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5157216"/>
            <a:ext cx="91440" cy="548640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21" name="Text 19"/>
          <p:cNvSpPr/>
          <p:nvPr/>
        </p:nvSpPr>
        <p:spPr>
          <a:xfrm>
            <a:off x="7452360" y="5129784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流程清晰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52360" y="54681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从prepare到train到evaluate层层递进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数据准备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</a:t>
            </a: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(prepare_data.py)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下载中文情感数据集 </a:t>
            </a:r>
            <a:r>
              <a:rPr lang="en-US" altLang="zh-CN" sz="1600" dirty="0" err="1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ChnSentiCorp</a:t>
            </a:r>
            <a:r>
              <a:rPr lang="en-US" altLang="zh-CN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并保存为 </a:t>
            </a:r>
            <a:r>
              <a:rPr lang="en-US" altLang="zh-CN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CSV</a:t>
            </a:r>
            <a:endParaRPr lang="en-US" sz="1600" dirty="0">
              <a:solidFill>
                <a:srgbClr val="5C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6400800" cy="4023360"/>
          </a:xfrm>
          <a:prstGeom prst="roundRect">
            <a:avLst>
              <a:gd name="adj" fmla="val 1364"/>
            </a:avLst>
          </a:prstGeom>
          <a:solidFill>
            <a:srgbClr val="0D1B2A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9376D"/>
          </a:solidFill>
        </p:spPr>
      </p:sp>
      <p:sp>
        <p:nvSpPr>
          <p:cNvPr id="7" name="Text 5"/>
          <p:cNvSpPr/>
          <p:nvPr/>
        </p:nvSpPr>
        <p:spPr>
          <a:xfrm>
            <a:off x="1051560" y="182880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prepare_data.py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60350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050" dirty="0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datasets import </a:t>
            </a:r>
            <a:r>
              <a:rPr lang="en-US" sz="1050" dirty="0" err="1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load_dataset</a:t>
            </a:r>
            <a:endParaRPr lang="en-US" sz="1050" dirty="0">
              <a:solidFill>
                <a:srgbClr val="7FB3D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pandas as pd</a:t>
            </a:r>
            <a:endParaRPr lang="en-US" sz="1050" dirty="0">
              <a:solidFill>
                <a:srgbClr val="7FB3D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endParaRPr lang="en-US" sz="1050" dirty="0">
              <a:solidFill>
                <a:srgbClr val="7FB3D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</a:t>
            </a:r>
            <a:r>
              <a:rPr lang="zh-CN" alt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下载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ChnSentiCorp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zh-CN" alt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数据集并保存为 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CSV</a:t>
            </a:r>
            <a:endParaRPr lang="en-US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dataset =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load_dataset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('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lansinuote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ChnSentiCorp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')</a:t>
            </a:r>
            <a:endParaRPr lang="en-US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split in ['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train','validation','test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']:</a:t>
            </a:r>
            <a:endParaRPr lang="en-US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pd.DataFrame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(dataset[split])</a:t>
            </a:r>
            <a:endParaRPr lang="en-US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[['text', 'label']]</a:t>
            </a:r>
            <a:endParaRPr lang="en-US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df.to_csv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(f'{split}.csv', encoding='utf-8-sig', index=False)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498080" y="18288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0B2447"/>
          </a:solidFill>
        </p:spPr>
      </p:sp>
      <p:sp>
        <p:nvSpPr>
          <p:cNvPr id="10" name="Text 8"/>
          <p:cNvSpPr/>
          <p:nvPr/>
        </p:nvSpPr>
        <p:spPr>
          <a:xfrm>
            <a:off x="7772400" y="201168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数据集说明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2423160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ChnSentiCorp 是中文情感分析常用公开数据集，内容主要为酒店、商品的真实用户评论。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0" y="34290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0" y="34290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9600 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3904488"/>
            <a:ext cx="3474720" cy="0"/>
          </a:xfrm>
          <a:prstGeom prst="line">
            <a:avLst/>
          </a:prstGeom>
          <a:noFill/>
          <a:ln w="9525">
            <a:solidFill>
              <a:srgbClr val="193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977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0" y="39776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1200 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4453128"/>
            <a:ext cx="3474720" cy="0"/>
          </a:xfrm>
          <a:prstGeom prst="line">
            <a:avLst/>
          </a:prstGeom>
          <a:noFill/>
          <a:ln w="9525">
            <a:solidFill>
              <a:srgbClr val="193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5262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4526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1200 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5001768"/>
            <a:ext cx="3474720" cy="0"/>
          </a:xfrm>
          <a:prstGeom prst="line">
            <a:avLst/>
          </a:prstGeom>
          <a:noFill/>
          <a:ln w="9525">
            <a:solidFill>
              <a:srgbClr val="193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50749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0" y="50749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0=负面 / 1=正面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数据加载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</a:t>
            </a: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data_loader.py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 </a:t>
            </a:r>
            <a:r>
              <a:rPr lang="zh-CN" alt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分词器，将文本转换为模型可读的张量</a:t>
            </a:r>
            <a:endParaRPr lang="en-US" sz="1600" dirty="0">
              <a:solidFill>
                <a:srgbClr val="5C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6583680" cy="4464911"/>
          </a:xfrm>
          <a:prstGeom prst="roundRect">
            <a:avLst>
              <a:gd name="adj" fmla="val 1364"/>
            </a:avLst>
          </a:prstGeom>
          <a:solidFill>
            <a:srgbClr val="0D1B2A"/>
          </a:solidFill>
        </p:spPr>
      </p:sp>
      <p:sp>
        <p:nvSpPr>
          <p:cNvPr id="6" name="Shape 4"/>
          <p:cNvSpPr/>
          <p:nvPr/>
        </p:nvSpPr>
        <p:spPr>
          <a:xfrm>
            <a:off x="868680" y="1828800"/>
            <a:ext cx="6583680" cy="384048"/>
          </a:xfrm>
          <a:prstGeom prst="roundRect">
            <a:avLst>
              <a:gd name="adj" fmla="val 14286"/>
            </a:avLst>
          </a:prstGeom>
          <a:solidFill>
            <a:srgbClr val="19376D"/>
          </a:solidFill>
        </p:spPr>
      </p:sp>
      <p:sp>
        <p:nvSpPr>
          <p:cNvPr id="7" name="Text 5"/>
          <p:cNvSpPr/>
          <p:nvPr/>
        </p:nvSpPr>
        <p:spPr>
          <a:xfrm>
            <a:off x="1051560" y="1828800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data_loader.py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640080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</a:t>
            </a:r>
            <a:r>
              <a:rPr lang="en-US" altLang="zh-CN" sz="1050" b="1" dirty="0" err="1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EmotionDataset</a:t>
            </a:r>
            <a:r>
              <a:rPr lang="en-US" altLang="zh-CN" sz="1050" b="1" dirty="0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(Dataset):</a:t>
            </a:r>
            <a:endParaRPr lang="en-US" altLang="zh-CN" sz="1050" b="1" dirty="0">
              <a:solidFill>
                <a:srgbClr val="7FB3D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def __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getitem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__(self, 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idx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):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text = 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self.texts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idx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# </a:t>
            </a:r>
            <a:r>
              <a:rPr lang="zh-CN" alt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核心编码部分</a:t>
            </a:r>
            <a:endParaRPr lang="zh-CN" alt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zh-CN" alt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encoding = 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self.tokenizer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text,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max_length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self.max_length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padding='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max_length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',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truncation=True,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return_tensors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='pt'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)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{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'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input_ids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': encoding['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input_ids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'].squeeze(),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'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attention_mask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': encoding['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attention_mask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'].squeeze(),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'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token_type_ids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': encoding['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token_type_ids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'].squeeze(),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'label': 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self.labels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</a:t>
            </a:r>
            <a:r>
              <a:rPr lang="en-US" altLang="zh-CN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idx</a:t>
            </a: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80960" y="1828800"/>
            <a:ext cx="3840480" cy="4023360"/>
          </a:xfrm>
          <a:prstGeom prst="roundRect">
            <a:avLst>
              <a:gd name="adj" fmla="val 1905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201168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编码后的三个张量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09560" y="2514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input_ids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09560" y="28346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每个Token在词典中的ID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33375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attention_mask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09560" y="36576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标记真实Token(1)与填充(0)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9560" y="41605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token_type_ids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44805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区分句子A/B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49834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09560" y="53035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情感标签 0或1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训练环境与依赖准备</a:t>
            </a:r>
            <a:endParaRPr lang="en-US" sz="2800" b="1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600" dirty="0"/>
              <a:t>训练开始前依赖下载和环境准备过程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pip  安装核心依赖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395728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torch / transformers / datasets / scikit-learn 等，使用清华镜像源加速</a:t>
            </a:r>
            <a:endParaRPr lang="en-US" sz="1150" dirty="0">
              <a:solidFill>
                <a:srgbClr val="5C5C6E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25880" y="2953512"/>
            <a:ext cx="4206240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endParaRPr lang="en-US" sz="1050" dirty="0">
              <a:solidFill>
                <a:srgbClr val="D4E0F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4480560"/>
            <a:ext cx="46634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endParaRPr lang="en-US" sz="1400" dirty="0">
              <a:solidFill>
                <a:srgbClr val="5C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16700" y="1862328"/>
            <a:ext cx="4676140" cy="4057650"/>
          </a:xfrm>
          <a:prstGeom prst="roundRect">
            <a:avLst>
              <a:gd name="adj" fmla="val 1778"/>
            </a:avLst>
          </a:prstGeom>
          <a:solidFill>
            <a:srgbClr val="0B2447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10"/>
          <p:cNvSpPr/>
          <p:nvPr/>
        </p:nvSpPr>
        <p:spPr>
          <a:xfrm>
            <a:off x="6921500" y="2011680"/>
            <a:ext cx="4127500" cy="2369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altLang="zh-CN" sz="1400" dirty="0"/>
          </a:p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展示训练前依赖安装过程，包括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HuggingFace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Transformers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Datasets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等库下载和安装进度。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依赖全部成功安装，准备就绪，可以顺利开始模型训练。</a:t>
            </a:r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91018" y="2395728"/>
            <a:ext cx="440182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1150" dirty="0">
              <a:solidFill>
                <a:srgbClr val="7FB3D5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20840" y="2953512"/>
            <a:ext cx="4297680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endParaRPr lang="en-US" sz="1050" dirty="0">
              <a:solidFill>
                <a:srgbClr val="D4E0F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4480560"/>
            <a:ext cx="4754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150" dirty="0">
              <a:solidFill>
                <a:srgbClr val="7FB3D5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894" y="1844289"/>
            <a:ext cx="5692624" cy="40655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模型定义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</a:t>
            </a: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bert_classifier.py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 </a:t>
            </a:r>
            <a:r>
              <a:rPr lang="en-US" altLang="zh-CN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 </a:t>
            </a:r>
            <a:r>
              <a:rPr lang="zh-CN" alt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en-US" altLang="zh-CN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全连接分类头</a:t>
            </a:r>
            <a:endParaRPr lang="en-US" sz="1600" dirty="0">
              <a:solidFill>
                <a:srgbClr val="5C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6766560" cy="4114800"/>
          </a:xfrm>
          <a:prstGeom prst="roundRect">
            <a:avLst>
              <a:gd name="adj" fmla="val 1333"/>
            </a:avLst>
          </a:prstGeom>
          <a:solidFill>
            <a:srgbClr val="0D1B2A"/>
          </a:solidFill>
        </p:spPr>
      </p:sp>
      <p:sp>
        <p:nvSpPr>
          <p:cNvPr id="6" name="Shape 4"/>
          <p:cNvSpPr/>
          <p:nvPr/>
        </p:nvSpPr>
        <p:spPr>
          <a:xfrm>
            <a:off x="868680" y="1828800"/>
            <a:ext cx="6766560" cy="384048"/>
          </a:xfrm>
          <a:prstGeom prst="roundRect">
            <a:avLst>
              <a:gd name="adj" fmla="val 14286"/>
            </a:avLst>
          </a:prstGeom>
          <a:solidFill>
            <a:srgbClr val="19376D"/>
          </a:solidFill>
        </p:spPr>
      </p:sp>
      <p:sp>
        <p:nvSpPr>
          <p:cNvPr id="7" name="Text 5"/>
          <p:cNvSpPr/>
          <p:nvPr/>
        </p:nvSpPr>
        <p:spPr>
          <a:xfrm>
            <a:off x="1051560" y="1828800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bert_classifier.py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64008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050" b="1" dirty="0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</a:t>
            </a:r>
            <a:r>
              <a:rPr lang="en-US" sz="1050" b="1" dirty="0" err="1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torch.nn</a:t>
            </a:r>
            <a:r>
              <a:rPr lang="en-US" sz="1050" b="1" dirty="0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</a:t>
            </a:r>
            <a:r>
              <a:rPr lang="en-US" sz="1050" b="1" dirty="0" err="1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nn</a:t>
            </a:r>
            <a:endParaRPr lang="en-US" sz="1050" b="1" dirty="0">
              <a:solidFill>
                <a:srgbClr val="7FB3D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transformers import </a:t>
            </a:r>
            <a:r>
              <a:rPr lang="en-US" sz="1050" b="1" dirty="0" err="1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BertModel</a:t>
            </a:r>
            <a:endParaRPr lang="en-US" sz="1050" b="1" dirty="0">
              <a:solidFill>
                <a:srgbClr val="7FB3D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endParaRPr lang="en-US" sz="1050" b="1" dirty="0">
              <a:solidFill>
                <a:srgbClr val="7FB3D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BertClassifier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nn.Module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):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def __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__(self,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num_classes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=2):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super(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BertClassifier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self).__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__()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self.bert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BertModel.from_pretrained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('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bert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-base-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chinese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')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self.dropout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nn.Dropout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(0.3)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self.classifier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nn.Linear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(768,2)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def forward(self,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input_ids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attention_mask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=None,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token_type_ids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=None):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outputs =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self.bert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input_ids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attention_mask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attention_mask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token_type_ids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token_type_ids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outputs.pooler_output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self.dropout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self.classifier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b="1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cls</a:t>
            </a:r>
            <a:r>
              <a:rPr lang="en-US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B2447"/>
          </a:solidFill>
        </p:spPr>
      </p:sp>
      <p:sp>
        <p:nvSpPr>
          <p:cNvPr id="10" name="Text 8"/>
          <p:cNvSpPr/>
          <p:nvPr/>
        </p:nvSpPr>
        <p:spPr>
          <a:xfrm>
            <a:off x="8092440" y="201168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前向传播流程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2468880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19376D"/>
          </a:solidFill>
        </p:spPr>
      </p:sp>
      <p:sp>
        <p:nvSpPr>
          <p:cNvPr id="12" name="Text 10"/>
          <p:cNvSpPr/>
          <p:nvPr/>
        </p:nvSpPr>
        <p:spPr>
          <a:xfrm>
            <a:off x="8092440" y="2468880"/>
            <a:ext cx="3200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输入Token序列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0" y="3017520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2A65A"/>
          </a:solidFill>
        </p:spPr>
      </p:sp>
      <p:sp>
        <p:nvSpPr>
          <p:cNvPr id="14" name="Text 12"/>
          <p:cNvSpPr/>
          <p:nvPr/>
        </p:nvSpPr>
        <p:spPr>
          <a:xfrm>
            <a:off x="8092440" y="3017520"/>
            <a:ext cx="3200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BERT编码(12层)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3566160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19376D"/>
          </a:solidFill>
        </p:spPr>
      </p:sp>
      <p:sp>
        <p:nvSpPr>
          <p:cNvPr id="16" name="Text 14"/>
          <p:cNvSpPr/>
          <p:nvPr/>
        </p:nvSpPr>
        <p:spPr>
          <a:xfrm>
            <a:off x="8092440" y="3566160"/>
            <a:ext cx="3200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取[CLS]向量(768维)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4114800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19376D"/>
          </a:solidFill>
        </p:spPr>
      </p:sp>
      <p:sp>
        <p:nvSpPr>
          <p:cNvPr id="18" name="Text 16"/>
          <p:cNvSpPr/>
          <p:nvPr/>
        </p:nvSpPr>
        <p:spPr>
          <a:xfrm>
            <a:off x="8092440" y="4114800"/>
            <a:ext cx="3200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Dropout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4663440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19376D"/>
          </a:solidFill>
        </p:spPr>
      </p:sp>
      <p:sp>
        <p:nvSpPr>
          <p:cNvPr id="20" name="Text 18"/>
          <p:cNvSpPr/>
          <p:nvPr/>
        </p:nvSpPr>
        <p:spPr>
          <a:xfrm>
            <a:off x="8092440" y="4663440"/>
            <a:ext cx="3200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全连接层(768→2)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5212080"/>
            <a:ext cx="3200400" cy="420624"/>
          </a:xfrm>
          <a:prstGeom prst="roundRect">
            <a:avLst>
              <a:gd name="adj" fmla="val 10870"/>
            </a:avLst>
          </a:prstGeom>
          <a:solidFill>
            <a:srgbClr val="F2A65A"/>
          </a:solidFill>
        </p:spPr>
      </p:sp>
      <p:sp>
        <p:nvSpPr>
          <p:cNvPr id="22" name="Text 20"/>
          <p:cNvSpPr/>
          <p:nvPr/>
        </p:nvSpPr>
        <p:spPr>
          <a:xfrm>
            <a:off x="8092440" y="5212080"/>
            <a:ext cx="3200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输出情感得分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训练主脚本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</a:t>
            </a: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train.py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训练循环四步：前向传播 → 计算损失 → 反向传播 → 梯度更新</a:t>
            </a:r>
            <a:endParaRPr lang="zh-CN" altLang="en-US" sz="1600" dirty="0">
              <a:solidFill>
                <a:srgbClr val="5C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6675120" cy="4114800"/>
          </a:xfrm>
          <a:prstGeom prst="roundRect">
            <a:avLst>
              <a:gd name="adj" fmla="val 1333"/>
            </a:avLst>
          </a:prstGeom>
          <a:solidFill>
            <a:srgbClr val="0D1B2A"/>
          </a:solidFill>
        </p:spPr>
      </p:sp>
      <p:sp>
        <p:nvSpPr>
          <p:cNvPr id="6" name="Shape 4"/>
          <p:cNvSpPr/>
          <p:nvPr/>
        </p:nvSpPr>
        <p:spPr>
          <a:xfrm>
            <a:off x="868680" y="1828800"/>
            <a:ext cx="6675120" cy="384048"/>
          </a:xfrm>
          <a:prstGeom prst="roundRect">
            <a:avLst>
              <a:gd name="adj" fmla="val 14286"/>
            </a:avLst>
          </a:prstGeom>
          <a:solidFill>
            <a:srgbClr val="19376D"/>
          </a:solidFill>
        </p:spPr>
      </p:sp>
      <p:sp>
        <p:nvSpPr>
          <p:cNvPr id="7" name="Text 5"/>
          <p:cNvSpPr/>
          <p:nvPr/>
        </p:nvSpPr>
        <p:spPr>
          <a:xfrm>
            <a:off x="1051560" y="1828800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rgbClr val="7FB3D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torch</a:t>
            </a:r>
            <a:endParaRPr lang="en-US" altLang="zh-CN" sz="1050" dirty="0">
              <a:solidFill>
                <a:srgbClr val="7FB3D5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torch import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nn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torch.utils.data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DataLoader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transformers import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AdamW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criterion =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nn.CrossEntropyLoss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optimizer =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AdamW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model.parameters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(),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lr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=2e-5)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batch in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train_loader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optimizer.zero_grad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logits = model(batch['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input_ids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'],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attention_mask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=batch['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attention_mask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'],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token_type_ids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=batch['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token_type_ids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'])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loss = criterion(logits, batch['label'])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loss.backward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</a:t>
            </a:r>
            <a:endParaRPr lang="en-US" altLang="zh-CN" sz="10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altLang="zh-CN" sz="10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optimizer.step</a:t>
            </a:r>
            <a:r>
              <a:rPr lang="en-US" altLang="zh-CN" sz="10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0" y="1828800"/>
            <a:ext cx="3749040" cy="4114800"/>
          </a:xfrm>
          <a:prstGeom prst="roundRect">
            <a:avLst>
              <a:gd name="adj" fmla="val 1951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01168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训练四步走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2514600"/>
            <a:ext cx="457200" cy="45720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2" name="Text 10"/>
          <p:cNvSpPr/>
          <p:nvPr/>
        </p:nvSpPr>
        <p:spPr>
          <a:xfrm>
            <a:off x="8001000" y="2514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0" y="24871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梯度清零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95360" y="278892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zero_grad() 清除上轮梯度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3355848"/>
            <a:ext cx="457200" cy="45720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6" name="Text 14"/>
          <p:cNvSpPr/>
          <p:nvPr/>
        </p:nvSpPr>
        <p:spPr>
          <a:xfrm>
            <a:off x="8001000" y="335584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0" y="3328416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前向传播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95360" y="363016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计算模型预测与损失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01000" y="4197096"/>
            <a:ext cx="457200" cy="45720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0" name="Text 18"/>
          <p:cNvSpPr/>
          <p:nvPr/>
        </p:nvSpPr>
        <p:spPr>
          <a:xfrm>
            <a:off x="8001000" y="419709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416966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反向传播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95360" y="4471416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backward() 计算梯度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01000" y="5038344"/>
            <a:ext cx="457200" cy="457200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4" name="Text 22"/>
          <p:cNvSpPr/>
          <p:nvPr/>
        </p:nvSpPr>
        <p:spPr>
          <a:xfrm>
            <a:off x="8001000" y="503834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95360" y="501091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更新参数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0" y="531266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step() 沿梯度更新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训练过程初期指标</a:t>
            </a:r>
            <a:endParaRPr lang="en-US" sz="2800" b="1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1600" dirty="0">
              <a:solidFill>
                <a:srgbClr val="5C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train.py  训练日志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640080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64947" y="1758950"/>
            <a:ext cx="3840480" cy="4023360"/>
          </a:xfrm>
          <a:prstGeom prst="roundRect">
            <a:avLst>
              <a:gd name="adj" fmla="val 1905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 8"/>
          <p:cNvSpPr/>
          <p:nvPr/>
        </p:nvSpPr>
        <p:spPr>
          <a:xfrm>
            <a:off x="7909560" y="1874520"/>
            <a:ext cx="3190240" cy="36245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：显示训练前几个 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Epoch 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的训练集与验证集指标，包括 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Accuracy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Recall 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：训练集 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Accuracy≈0.6395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，验证集 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Accuracy≈0.6100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 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14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09560" y="2514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09560" y="28346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33375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09560" y="36576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9560" y="41605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44805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49834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09560" y="53035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533" y="1691640"/>
            <a:ext cx="5832667" cy="42607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28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测试集评估结果</a:t>
            </a:r>
            <a:endParaRPr lang="en-US" altLang="zh-CN" sz="28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395728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>
              <a:solidFill>
                <a:srgbClr val="5C5C6E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37960" y="1812496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0B2447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10"/>
          <p:cNvSpPr/>
          <p:nvPr/>
        </p:nvSpPr>
        <p:spPr>
          <a:xfrm>
            <a:off x="6742460" y="2011678"/>
            <a:ext cx="4754880" cy="33613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：模型在测试集上评估指标输出，包括 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Accuracy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Recall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Loss≈0.1646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Accuracy≈0.9510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F1≈0.9333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，模型在测试集上表现稳定。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37960" y="239572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1150" dirty="0">
              <a:solidFill>
                <a:srgbClr val="7FB3D5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20840" y="2953512"/>
            <a:ext cx="4297680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4480560"/>
            <a:ext cx="4754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150" dirty="0">
              <a:solidFill>
                <a:srgbClr val="7FB3D5"/>
              </a:solidFill>
            </a:endParaRPr>
          </a:p>
        </p:txBody>
      </p:sp>
      <p:pic>
        <p:nvPicPr>
          <p:cNvPr id="18" name="图片 17"/>
          <p:cNvPicPr/>
          <p:nvPr/>
        </p:nvPicPr>
        <p:blipFill>
          <a:blip r:embed="rId1"/>
          <a:srcRect t="862" r="10560"/>
          <a:stretch>
            <a:fillRect/>
          </a:stretch>
        </p:blipFill>
        <p:spPr>
          <a:xfrm>
            <a:off x="385096" y="1906772"/>
            <a:ext cx="5831406" cy="38539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评估与可视化</a:t>
            </a:r>
            <a:r>
              <a:rPr lang="zh-CN" alt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evaluate.py 测试集评估  ·  visualize_attention.py 注意力可视化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1168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evaluate.py  模型评估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395728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在1200条测试集上评估，输出多项指标</a:t>
            </a:r>
            <a:endParaRPr lang="en-US" sz="1150" dirty="0">
              <a:solidFill>
                <a:srgbClr val="5C5C6E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2788920"/>
            <a:ext cx="4572000" cy="1554480"/>
          </a:xfrm>
          <a:prstGeom prst="roundRect">
            <a:avLst>
              <a:gd name="adj" fmla="val 3529"/>
            </a:avLst>
          </a:prstGeom>
          <a:solidFill>
            <a:srgbClr val="0D1B2A"/>
          </a:solidFill>
        </p:spPr>
      </p:sp>
      <p:sp>
        <p:nvSpPr>
          <p:cNvPr id="9" name="Text 7"/>
          <p:cNvSpPr/>
          <p:nvPr/>
        </p:nvSpPr>
        <p:spPr>
          <a:xfrm>
            <a:off x="1325880" y="2953512"/>
            <a:ext cx="4206240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endParaRPr lang="en-US" sz="1050" dirty="0">
              <a:solidFill>
                <a:srgbClr val="D4E0F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metrics = </a:t>
            </a: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compute_metrics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y_true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y_pred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50" dirty="0">
              <a:solidFill>
                <a:srgbClr val="D4E0F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 err="1">
                <a:solidFill>
                  <a:srgbClr val="CA8F5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plot_confusion_matrix</a:t>
            </a:r>
            <a:r>
              <a:rPr lang="en-US" sz="1050" dirty="0">
                <a:solidFill>
                  <a:srgbClr val="CA8F5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CA8F5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y_true</a:t>
            </a:r>
            <a:r>
              <a:rPr lang="en-US" sz="1050" dirty="0">
                <a:solidFill>
                  <a:srgbClr val="CA8F5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CA8F5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y_pred</a:t>
            </a:r>
            <a:r>
              <a:rPr lang="en-US" sz="1050" dirty="0">
                <a:solidFill>
                  <a:srgbClr val="CA8F5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50" dirty="0">
              <a:solidFill>
                <a:srgbClr val="CA8F56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4480560"/>
            <a:ext cx="46634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zh-CN" altLang="en-US" sz="14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输出分类报告 </a:t>
            </a:r>
            <a:r>
              <a:rPr lang="en-US" altLang="zh-CN" sz="14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(test_report.txt) </a:t>
            </a:r>
            <a:r>
              <a:rPr lang="zh-CN" altLang="en-US" sz="14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与混淆矩阵图 </a:t>
            </a:r>
            <a:r>
              <a:rPr lang="en-US" altLang="zh-CN" sz="14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(confusion_matrix.png)</a:t>
            </a:r>
            <a:endParaRPr lang="en-US" sz="1400" dirty="0">
              <a:solidFill>
                <a:srgbClr val="5C5C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02682" y="1847088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0B2447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visualize_attention.py  注意力可视化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39572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200" dirty="0">
                <a:solidFill>
                  <a:srgbClr val="7FB3D5"/>
                </a:solidFill>
              </a:rPr>
              <a:t>可视化 </a:t>
            </a:r>
            <a:r>
              <a:rPr lang="en-US" altLang="zh-CN" sz="1200" dirty="0">
                <a:solidFill>
                  <a:srgbClr val="7FB3D5"/>
                </a:solidFill>
              </a:rPr>
              <a:t>BERT </a:t>
            </a:r>
            <a:r>
              <a:rPr lang="zh-CN" altLang="en-US" sz="1200" dirty="0">
                <a:solidFill>
                  <a:srgbClr val="7FB3D5"/>
                </a:solidFill>
              </a:rPr>
              <a:t>注意力权重，生成热力图分析模型关注文本区域</a:t>
            </a:r>
            <a:endParaRPr lang="en-US" sz="1150" dirty="0">
              <a:solidFill>
                <a:srgbClr val="7FB3D5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37960" y="2788920"/>
            <a:ext cx="4663440" cy="1883664"/>
          </a:xfrm>
          <a:prstGeom prst="roundRect">
            <a:avLst>
              <a:gd name="adj" fmla="val 3529"/>
            </a:avLst>
          </a:prstGeom>
          <a:solidFill>
            <a:srgbClr val="0D1B2A"/>
          </a:solidFill>
        </p:spPr>
      </p:sp>
      <p:sp>
        <p:nvSpPr>
          <p:cNvPr id="15" name="Text 13"/>
          <p:cNvSpPr/>
          <p:nvPr/>
        </p:nvSpPr>
        <p:spPr>
          <a:xfrm>
            <a:off x="6720840" y="2953512"/>
            <a:ext cx="4297680" cy="1225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outputs = </a:t>
            </a: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model.bert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(batch['</a:t>
            </a: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input_ids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'], </a:t>
            </a: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output_attentions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=True)</a:t>
            </a:r>
            <a:endParaRPr lang="en-US" sz="1050" dirty="0">
              <a:solidFill>
                <a:srgbClr val="D4E0F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attentions = </a:t>
            </a: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outputs.attentions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list of layers and heads</a:t>
            </a:r>
            <a:endParaRPr lang="en-US" sz="1050" dirty="0">
              <a:solidFill>
                <a:srgbClr val="D4E0F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sns.heatmap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(attentions[0][0].detach().</a:t>
            </a: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numpy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())</a:t>
            </a:r>
            <a:endParaRPr lang="en-US" sz="1050" dirty="0">
              <a:solidFill>
                <a:srgbClr val="D4E0F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plt.savefig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('attention_head0.png')</a:t>
            </a:r>
            <a:endParaRPr lang="en-US" sz="1050" dirty="0">
              <a:solidFill>
                <a:srgbClr val="D4E0F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600"/>
              </a:lnSpc>
            </a:pPr>
            <a:r>
              <a:rPr lang="en-US" sz="1050" dirty="0" err="1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plt.close</a:t>
            </a:r>
            <a:r>
              <a:rPr lang="en-US" sz="105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4480560"/>
            <a:ext cx="4754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FB3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生成三张图：单头热力图 / 12头对比 / 不同层对比，直观展示模型的关注模式。</a:t>
            </a:r>
            <a:endParaRPr lang="en-US" sz="1150" dirty="0">
              <a:solidFill>
                <a:srgbClr val="7FB3D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程序运行流程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完整运行流程：从数据准备到模型部署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0B2447"/>
          </a:solidFill>
        </p:spPr>
      </p:sp>
      <p:sp>
        <p:nvSpPr>
          <p:cNvPr id="6" name="Text 4"/>
          <p:cNvSpPr/>
          <p:nvPr/>
        </p:nvSpPr>
        <p:spPr>
          <a:xfrm>
            <a:off x="868680" y="18745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187452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D1B2A"/>
          </a:solidFill>
        </p:spPr>
      </p:sp>
      <p:sp>
        <p:nvSpPr>
          <p:cNvPr id="8" name="Text 6"/>
          <p:cNvSpPr/>
          <p:nvPr/>
        </p:nvSpPr>
        <p:spPr>
          <a:xfrm>
            <a:off x="1828800" y="187452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prepare_data.py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下载并准备数据集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52144" y="2441448"/>
            <a:ext cx="0" cy="274320"/>
          </a:xfrm>
          <a:prstGeom prst="line">
            <a:avLst/>
          </a:prstGeom>
          <a:noFill/>
          <a:ln w="19050">
            <a:solidFill>
              <a:srgbClr val="576C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15768"/>
            <a:ext cx="566928" cy="566928"/>
          </a:xfrm>
          <a:prstGeom prst="ellipse">
            <a:avLst/>
          </a:prstGeom>
          <a:solidFill>
            <a:srgbClr val="0B2447"/>
          </a:solidFill>
        </p:spPr>
      </p:sp>
      <p:sp>
        <p:nvSpPr>
          <p:cNvPr id="12" name="Text 10"/>
          <p:cNvSpPr/>
          <p:nvPr/>
        </p:nvSpPr>
        <p:spPr>
          <a:xfrm>
            <a:off x="868680" y="271576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45920" y="2715768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D1B2A"/>
          </a:solidFill>
        </p:spPr>
      </p:sp>
      <p:sp>
        <p:nvSpPr>
          <p:cNvPr id="14" name="Text 12"/>
          <p:cNvSpPr/>
          <p:nvPr/>
        </p:nvSpPr>
        <p:spPr>
          <a:xfrm>
            <a:off x="1828800" y="2715768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train.py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715768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微调BERT模型，保存最优权重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52144" y="3282696"/>
            <a:ext cx="0" cy="274320"/>
          </a:xfrm>
          <a:prstGeom prst="line">
            <a:avLst/>
          </a:prstGeom>
          <a:noFill/>
          <a:ln w="19050">
            <a:solidFill>
              <a:srgbClr val="576C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57016"/>
            <a:ext cx="566928" cy="566928"/>
          </a:xfrm>
          <a:prstGeom prst="ellipse">
            <a:avLst/>
          </a:prstGeom>
          <a:solidFill>
            <a:srgbClr val="0B2447"/>
          </a:solidFill>
        </p:spPr>
      </p:sp>
      <p:sp>
        <p:nvSpPr>
          <p:cNvPr id="18" name="Text 16"/>
          <p:cNvSpPr/>
          <p:nvPr/>
        </p:nvSpPr>
        <p:spPr>
          <a:xfrm>
            <a:off x="868680" y="35570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45920" y="3557016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D1B2A"/>
          </a:solidFill>
        </p:spPr>
      </p:sp>
      <p:sp>
        <p:nvSpPr>
          <p:cNvPr id="20" name="Text 18"/>
          <p:cNvSpPr/>
          <p:nvPr/>
        </p:nvSpPr>
        <p:spPr>
          <a:xfrm>
            <a:off x="1828800" y="3557016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evaluate.py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557016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测试集评估，生成混淆矩阵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52144" y="4123944"/>
            <a:ext cx="0" cy="274320"/>
          </a:xfrm>
          <a:prstGeom prst="line">
            <a:avLst/>
          </a:prstGeom>
          <a:noFill/>
          <a:ln w="19050">
            <a:solidFill>
              <a:srgbClr val="576C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398264"/>
            <a:ext cx="566928" cy="566928"/>
          </a:xfrm>
          <a:prstGeom prst="ellipse">
            <a:avLst/>
          </a:prstGeom>
          <a:solidFill>
            <a:srgbClr val="0B2447"/>
          </a:solidFill>
        </p:spPr>
      </p:sp>
      <p:sp>
        <p:nvSpPr>
          <p:cNvPr id="24" name="Text 22"/>
          <p:cNvSpPr/>
          <p:nvPr/>
        </p:nvSpPr>
        <p:spPr>
          <a:xfrm>
            <a:off x="868680" y="4398264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645920" y="4398264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D1B2A"/>
          </a:solidFill>
        </p:spPr>
      </p:sp>
      <p:sp>
        <p:nvSpPr>
          <p:cNvPr id="26" name="Text 24"/>
          <p:cNvSpPr/>
          <p:nvPr/>
        </p:nvSpPr>
        <p:spPr>
          <a:xfrm>
            <a:off x="1828800" y="4398264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visualize_attention.py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398264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生成注意力热力图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52144" y="4965192"/>
            <a:ext cx="0" cy="274320"/>
          </a:xfrm>
          <a:prstGeom prst="line">
            <a:avLst/>
          </a:prstGeom>
          <a:noFill/>
          <a:ln w="19050">
            <a:solidFill>
              <a:srgbClr val="576C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239512"/>
            <a:ext cx="566928" cy="566928"/>
          </a:xfrm>
          <a:prstGeom prst="ellipse">
            <a:avLst/>
          </a:prstGeom>
          <a:solidFill>
            <a:srgbClr val="0B2447"/>
          </a:solidFill>
        </p:spPr>
      </p:sp>
      <p:sp>
        <p:nvSpPr>
          <p:cNvPr id="30" name="Text 28"/>
          <p:cNvSpPr/>
          <p:nvPr/>
        </p:nvSpPr>
        <p:spPr>
          <a:xfrm>
            <a:off x="868680" y="523951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645920" y="5239512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D1B2A"/>
          </a:solidFill>
        </p:spPr>
      </p:sp>
      <p:sp>
        <p:nvSpPr>
          <p:cNvPr id="32" name="Text 30"/>
          <p:cNvSpPr/>
          <p:nvPr/>
        </p:nvSpPr>
        <p:spPr>
          <a:xfrm>
            <a:off x="1828800" y="5239512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gradio_demo.py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5239512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启动Web交互演示界面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运行结果展示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训练完成后生成的成果文件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415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7" name="Text 5"/>
          <p:cNvSpPr/>
          <p:nvPr/>
        </p:nvSpPr>
        <p:spPr>
          <a:xfrm>
            <a:off x="10058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best_model.pt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239572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训练好的模型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验证集F1=0.9333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8288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12" name="Text 10"/>
          <p:cNvSpPr/>
          <p:nvPr/>
        </p:nvSpPr>
        <p:spPr>
          <a:xfrm>
            <a:off x="46634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training_curves.png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239572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训练曲线图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损失与准确率变化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8288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17" name="Text 15"/>
          <p:cNvSpPr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confusion_matrix.png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239572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27889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分类情况可视化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37033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70332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22" name="Text 20"/>
          <p:cNvSpPr/>
          <p:nvPr/>
        </p:nvSpPr>
        <p:spPr>
          <a:xfrm>
            <a:off x="1005840" y="3703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test_report.txt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427024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分类报告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66344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测试集F1=0.9408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26280" y="37033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370332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27" name="Text 25"/>
          <p:cNvSpPr/>
          <p:nvPr/>
        </p:nvSpPr>
        <p:spPr>
          <a:xfrm>
            <a:off x="4663440" y="3703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attention_*.png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427024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注意力热力图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466344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3张机理分析图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83880" y="37033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70332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32" name="Text 30"/>
          <p:cNvSpPr/>
          <p:nvPr/>
        </p:nvSpPr>
        <p:spPr>
          <a:xfrm>
            <a:off x="8321040" y="3703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Web Demo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0" y="427024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Gradio界面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466344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5C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实时情感预测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运行结果展示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best_model.pt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239572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training_curves.png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confusion_matrix.png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1842516"/>
            <a:ext cx="3383280" cy="3981609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1842516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22" name="Text 20"/>
          <p:cNvSpPr/>
          <p:nvPr/>
        </p:nvSpPr>
        <p:spPr>
          <a:xfrm>
            <a:off x="1005840" y="3703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：详细分类报告（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Classification Report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），包含负面和正面类别的 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Recall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support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：分类报告生成成功，各类指标可供分析。</a:t>
            </a:r>
            <a:endParaRPr lang="en-US" sz="14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5840" y="1870692"/>
            <a:ext cx="3017520" cy="4153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分类报告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7280" y="466344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81458"/>
            <a:ext cx="7781626" cy="41600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运行结果展示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best_model.pt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239572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training_curves.png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confusion_matrix.png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1870691"/>
            <a:ext cx="3383280" cy="3981609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1842516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22" name="Text 20"/>
          <p:cNvSpPr/>
          <p:nvPr/>
        </p:nvSpPr>
        <p:spPr>
          <a:xfrm>
            <a:off x="1005840" y="3703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：展示预测类别与真实类别的对应关系，用热力图表示正确与错误分类。</a:t>
            </a:r>
            <a:endParaRPr lang="en-US" altLang="zh-CN" sz="14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4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：混淆矩阵生成成功，可用于查看分类结果分布。</a:t>
            </a:r>
            <a:endParaRPr lang="en-US" sz="16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5840" y="1870692"/>
            <a:ext cx="3017520" cy="4153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混淆矩阵可视化</a:t>
            </a:r>
            <a:endParaRPr 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7280" y="466344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705" y="1691640"/>
            <a:ext cx="6967091" cy="41584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777240" y="384048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运行结果展示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best_model.pt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2395728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training_curves.png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confusion_matrix.png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1870691"/>
            <a:ext cx="3383280" cy="3981609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A5D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1842516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B2447"/>
          </a:solidFill>
        </p:spPr>
      </p:sp>
      <p:sp>
        <p:nvSpPr>
          <p:cNvPr id="22" name="Text 20"/>
          <p:cNvSpPr/>
          <p:nvPr/>
        </p:nvSpPr>
        <p:spPr>
          <a:xfrm>
            <a:off x="1005840" y="3703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6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zh-CN" altLang="en-US" sz="16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：生成 </a:t>
            </a:r>
            <a:r>
              <a:rPr lang="en-US" altLang="zh-CN" sz="16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 </a:t>
            </a:r>
            <a:r>
              <a:rPr lang="zh-CN" altLang="en-US" sz="16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注意力热力图，包括单头或多头注意力分布。</a:t>
            </a:r>
            <a:endParaRPr lang="en-US" altLang="zh-CN" sz="16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en-US" sz="16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600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：注意力可视化图片生成成功。</a:t>
            </a:r>
            <a:endParaRPr lang="zh-CN" altLang="en-US" sz="1600" dirty="0">
              <a:solidFill>
                <a:srgbClr val="0B24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5840" y="1870692"/>
            <a:ext cx="3017520" cy="4153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注意力可视化</a:t>
            </a:r>
            <a:endParaRPr 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7280" y="466344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782346"/>
            <a:ext cx="7579242" cy="40518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18872" cy="594360"/>
          </a:xfrm>
          <a:prstGeom prst="rect">
            <a:avLst/>
          </a:prstGeom>
          <a:solidFill>
            <a:srgbClr val="F2A65A"/>
          </a:solidFill>
        </p:spPr>
      </p:sp>
      <p:sp>
        <p:nvSpPr>
          <p:cNvPr id="3" name="Text 1"/>
          <p:cNvSpPr/>
          <p:nvPr/>
        </p:nvSpPr>
        <p:spPr>
          <a:xfrm>
            <a:off x="1097280" y="713232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程序设计亮点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600200"/>
            <a:ext cx="658368" cy="658368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5" name="Text 3"/>
          <p:cNvSpPr/>
          <p:nvPr/>
        </p:nvSpPr>
        <p:spPr>
          <a:xfrm>
            <a:off x="1097280" y="1600200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11680" y="16184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模块化架构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6459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数据、模型、训练、评估分离，结构清晰，易于维护和扩展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2468880"/>
            <a:ext cx="658368" cy="658368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9" name="Text 7"/>
          <p:cNvSpPr/>
          <p:nvPr/>
        </p:nvSpPr>
        <p:spPr>
          <a:xfrm>
            <a:off x="1097280" y="2468880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11680" y="24871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标准训练流程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51460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 AdamW 优化器、学习率 2e-5、CrossEntropyLoss，BERT 微调业界标准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3337560"/>
            <a:ext cx="658368" cy="658368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3" name="Text 11"/>
          <p:cNvSpPr/>
          <p:nvPr/>
        </p:nvSpPr>
        <p:spPr>
          <a:xfrm>
            <a:off x="1097280" y="3337560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33558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完整评估体系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3832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准确率、精确率、召回率、F1多指标评估，配混淆矩阵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7280" y="4206240"/>
            <a:ext cx="658368" cy="658368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7" name="Text 15"/>
          <p:cNvSpPr/>
          <p:nvPr/>
        </p:nvSpPr>
        <p:spPr>
          <a:xfrm>
            <a:off x="1097280" y="4206240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011680" y="42245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可解释性分析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42519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通过注意力可视化"看见"模型的内部工作机理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97280" y="5074920"/>
            <a:ext cx="658368" cy="658368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1" name="Text 19"/>
          <p:cNvSpPr/>
          <p:nvPr/>
        </p:nvSpPr>
        <p:spPr>
          <a:xfrm>
            <a:off x="1097280" y="5074920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011680" y="50932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语音情感识别闭环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512064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 faster-whisper，实现语音→文字→情感端到端流程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9376D"/>
          </a:solidFill>
        </p:spPr>
      </p:sp>
      <p:sp>
        <p:nvSpPr>
          <p:cNvPr id="3" name="Shape 1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19376D"/>
          </a:solidFill>
        </p:spPr>
      </p:sp>
      <p:sp>
        <p:nvSpPr>
          <p:cNvPr id="4" name="Text 2"/>
          <p:cNvSpPr/>
          <p:nvPr/>
        </p:nvSpPr>
        <p:spPr>
          <a:xfrm>
            <a:off x="0" y="2468880"/>
            <a:ext cx="121615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6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5D7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敬请批评指正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6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76C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基于BERT模型的文本识别 · 程序设计与实现 ·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5444</Words>
  <Application>WPS 演示</Application>
  <PresentationFormat>宽屏</PresentationFormat>
  <Paragraphs>476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基于BERT模型的文本识别 - 程序讲解</dc:title>
  <dc:creator>陈文旭</dc:creator>
  <dc:subject>PptxGenJS Presentation</dc:subject>
  <cp:lastModifiedBy>Light</cp:lastModifiedBy>
  <cp:revision>6</cp:revision>
  <dcterms:created xsi:type="dcterms:W3CDTF">2026-05-16T05:58:00Z</dcterms:created>
  <dcterms:modified xsi:type="dcterms:W3CDTF">2026-05-19T01:17:06Z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D95972E41C2F4696823542C2889ECB68_12</vt:lpwstr>
  </property>
  <property fmtid="{D5CDD505-2E9C-101B-9397-08002B2CF9AE}" pid="3" name="KSOProductBuildVer">
    <vt:lpwstr>2052-12.1.0.26375</vt:lpwstr>
  </property>
</Properties>
</file>